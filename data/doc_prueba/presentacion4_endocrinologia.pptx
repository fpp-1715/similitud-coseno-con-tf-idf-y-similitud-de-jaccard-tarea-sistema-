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ENDOCRINOLOGÍA Y METABOLISMO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Trastornos Hormonales y Metabólicos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Diabetes Mellitus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Criterios Diagnósticos ADA:</a:t>
            </a:r>
          </a:p>
          <a:p>
            <a:pPr lvl="1"/>
            <a:r>
              <a:t>Glucemia en ayunas ≥ 126 mg/dL</a:t>
            </a:r>
          </a:p>
          <a:p>
            <a:pPr lvl="1"/>
            <a:r>
              <a:t>HbA1c ≥ 6.5%</a:t>
            </a:r>
          </a:p>
          <a:p>
            <a:pPr lvl="1"/>
            <a:r>
              <a:t>Glucemia 2h post-carga ≥ 200 mg/dL (PTOG)</a:t>
            </a:r>
          </a:p>
          <a:p>
            <a:pPr lvl="1"/>
            <a:r>
              <a:t>Glucemia al azar ≥ 200 mg/dL + síntomas</a:t>
            </a:r>
          </a:p>
          <a:p>
            <a:r>
              <a:t>Objetivos terapéuticos: HbA1c &lt; 7%, glucemia preprandial 80-130 mg/dL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Tratamiento Farmacológico DM2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Metformina (Primera línea):</a:t>
            </a:r>
          </a:p>
          <a:p>
            <a:pPr lvl="1"/>
            <a:r>
              <a:t>Mecanismo: ↓ gluconeogénesis hepática</a:t>
            </a:r>
          </a:p>
          <a:p>
            <a:r>
              <a:t>Inhibidores SGLT2 (Empagliflozina):</a:t>
            </a:r>
          </a:p>
          <a:p>
            <a:pPr lvl="1"/>
            <a:r>
              <a:t>Mecanismo: ↑ glucosuria, beneficio cardiovascular</a:t>
            </a:r>
          </a:p>
          <a:p>
            <a:r>
              <a:t>Agonistas GLP-1 (Semaglutida):</a:t>
            </a:r>
          </a:p>
          <a:p>
            <a:pPr lvl="1"/>
            <a:r>
              <a:t>Mecanismo: ↑ insulina, ↓ glucagón, pérdida de peso</a:t>
            </a:r>
          </a:p>
          <a:p>
            <a:r>
              <a:t>Inhibidores DPP-4 (Sitagliptina):</a:t>
            </a:r>
          </a:p>
          <a:p>
            <a:pPr lvl="1"/>
            <a:r>
              <a:t>Mecanismo: Prolongan acción de GLP-1 endógeno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Trastornos Tiroideos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Hipotiroidismo Primario:</a:t>
            </a:r>
          </a:p>
          <a:p>
            <a:pPr lvl="1"/>
            <a:r>
              <a:t>TSH ↑, T4 libre ↓</a:t>
            </a:r>
          </a:p>
          <a:p>
            <a:pPr lvl="1"/>
            <a:r>
              <a:t>Causa principal: Tiroiditis de Hashimoto (anti-TPO+)</a:t>
            </a:r>
          </a:p>
          <a:p>
            <a:pPr lvl="1"/>
            <a:r>
              <a:t>Tratamiento: Levotiroxina 1.6 μg/kg/día</a:t>
            </a:r>
          </a:p>
          <a:p>
            <a:r>
              <a:t>Hipertiroidismo:</a:t>
            </a:r>
          </a:p>
          <a:p>
            <a:pPr lvl="1"/>
            <a:r>
              <a:t>TSH ↓, T4 libre ↑</a:t>
            </a:r>
          </a:p>
          <a:p>
            <a:pPr lvl="1"/>
            <a:r>
              <a:t>Enfermedad de Graves: TRAb+ (anticuerpos anti-receptor TSH)</a:t>
            </a:r>
          </a:p>
          <a:p>
            <a:pPr lvl="1"/>
            <a:r>
              <a:t>Tratamiento: Metimazol, propiltiouracilo, I-131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